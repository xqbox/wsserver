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E0768C-DC03-4496-A817-C3CE61FA45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034C72-250F-4625-8F1C-C4B3C9BE70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2A031C-4390-4910-B0CD-3084683144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AE1C0A-0F76-4C03-961E-4002294AFF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AE6436-266A-41D0-9ED2-75B137E89FA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CF028A-B0D6-4966-934F-370B11192B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2FDACE-87C1-4332-9184-50D1BC9F9F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0BBB33-0E7A-4F22-851E-9287999287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B0BFD9-FBAB-4002-B995-D9DDC4B6B2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39EF3B-632E-4A04-8A34-79AF06E6E1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865AA1-4F7D-4E74-99B8-1038ABE1065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08C8D0-4BFC-40E7-8D35-08967FFFC18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&lt;дата/время&gt;</a:t>
            </a:r>
            <a:endParaRPr b="0" lang="ru-RU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37C171E-E73A-4AE8-903A-605EB411551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Для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прав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ки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текст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а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загла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вия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щёлк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ните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мыш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ью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914400" y="1371600"/>
            <a:ext cx="1033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720"/>
              </a:spcAft>
              <a:buNone/>
            </a:pPr>
            <a:r>
              <a:rPr b="1" lang="en-US" sz="3600" spc="-1" strike="noStrike">
                <a:solidFill>
                  <a:srgbClr val="1a1a1a"/>
                </a:solidFill>
                <a:latin typeface="Calibri"/>
              </a:rPr>
              <a:t>Разработка статического HTTP-сервера</a:t>
            </a:r>
            <a:endParaRPr b="0" lang="ru-RU" sz="3600" spc="-1" strike="noStrike">
              <a:latin typeface="Arial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914400" y="2651760"/>
            <a:ext cx="10332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000" spc="-1" strike="noStrike">
                <a:solidFill>
                  <a:srgbClr val="666666"/>
                </a:solidFill>
                <a:latin typeface="Calibri"/>
              </a:rPr>
              <a:t>Курсовая работа по дисциплине «Компьютерные сети»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914400" y="3840480"/>
            <a:ext cx="10332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Студент: Родинков А. Г.    Группа: ИУ7-71БВ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914400" y="4389120"/>
            <a:ext cx="10332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Руководитель: Клочков М. Н.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914400" y="5669280"/>
            <a:ext cx="103323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320"/>
              </a:spcAft>
              <a:buNone/>
            </a:pPr>
            <a:r>
              <a:rPr b="0" lang="en-US" sz="1600" spc="-1" strike="noStrike">
                <a:solidFill>
                  <a:srgbClr val="666666"/>
                </a:solidFill>
                <a:latin typeface="Calibri"/>
              </a:rPr>
              <a:t>МГТУ им. Н. Э. Баумана - 2026</a:t>
            </a:r>
            <a:endParaRPr b="0" lang="ru-RU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1"/>
          <p:cNvSpPr/>
          <p:nvPr/>
        </p:nvSpPr>
        <p:spPr>
          <a:xfrm>
            <a:off x="548640" y="274320"/>
            <a:ext cx="109724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558"/>
              </a:spcAft>
              <a:buNone/>
            </a:pPr>
            <a:r>
              <a:rPr b="1" lang="en-US" sz="2800" spc="-1" strike="noStrike">
                <a:solidFill>
                  <a:srgbClr val="333333"/>
                </a:solidFill>
                <a:latin typeface="Calibri"/>
              </a:rPr>
              <a:t>Цель и задачи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47" name="TextBox 2"/>
          <p:cNvSpPr/>
          <p:nvPr/>
        </p:nvSpPr>
        <p:spPr>
          <a:xfrm>
            <a:off x="731520" y="1280160"/>
            <a:ext cx="105152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000" spc="-1" strike="noStrike">
                <a:solidFill>
                  <a:srgbClr val="1a1a1a"/>
                </a:solidFill>
                <a:latin typeface="Calibri"/>
              </a:rPr>
              <a:t>Цель — разработка многопоточного сервера для отдачи статического содержимого с диска по протоколу HTTP.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8" name="TextBox 3"/>
          <p:cNvSpPr/>
          <p:nvPr/>
        </p:nvSpPr>
        <p:spPr>
          <a:xfrm>
            <a:off x="731520" y="2286000"/>
            <a:ext cx="10515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000" spc="-1" strike="noStrike">
                <a:solidFill>
                  <a:srgbClr val="1a1a1a"/>
                </a:solidFill>
                <a:latin typeface="Calibri"/>
              </a:rPr>
              <a:t>Задачи: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9" name="TextBox 4"/>
          <p:cNvSpPr/>
          <p:nvPr/>
        </p:nvSpPr>
        <p:spPr>
          <a:xfrm>
            <a:off x="914400" y="2926080"/>
            <a:ext cx="10058040" cy="15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0" lang="en-US" sz="1900" spc="-1" strike="noStrike">
                <a:solidFill>
                  <a:srgbClr val="1a1a1a"/>
                </a:solidFill>
                <a:latin typeface="Calibri"/>
              </a:rPr>
              <a:t>1. Проанализировать архитектуру компьютерной сети, протоколы и системные вызовы</a:t>
            </a:r>
            <a:endParaRPr b="0" lang="ru-RU" sz="19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0" lang="en-US" sz="1900" spc="-1" strike="noStrike">
                <a:solidFill>
                  <a:srgbClr val="1a1a1a"/>
                </a:solidFill>
                <a:latin typeface="Calibri"/>
              </a:rPr>
              <a:t>2. Описать алгоритмы работы основных компонентов сервера</a:t>
            </a:r>
            <a:endParaRPr b="0" lang="ru-RU" sz="19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0" lang="en-US" sz="1900" spc="-1" strike="noStrike">
                <a:solidFill>
                  <a:srgbClr val="1a1a1a"/>
                </a:solidFill>
                <a:latin typeface="Calibri"/>
              </a:rPr>
              <a:t>3. Реализовать сервер на языке C</a:t>
            </a:r>
            <a:endParaRPr b="0" lang="ru-RU" sz="19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0" lang="en-US" sz="1900" spc="-1" strike="noStrike">
                <a:solidFill>
                  <a:srgbClr val="1a1a1a"/>
                </a:solidFill>
                <a:latin typeface="Calibri"/>
              </a:rPr>
              <a:t>4. Провести нагрузочное тестирование и определить оптимальную конфигурацию</a:t>
            </a:r>
            <a:endParaRPr b="0" lang="ru-RU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1"/>
          <p:cNvSpPr/>
          <p:nvPr/>
        </p:nvSpPr>
        <p:spPr>
          <a:xfrm>
            <a:off x="548640" y="274320"/>
            <a:ext cx="109724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558"/>
              </a:spcAft>
              <a:buNone/>
            </a:pPr>
            <a:r>
              <a:rPr b="1" lang="en-US" sz="2800" spc="-1" strike="noStrike">
                <a:solidFill>
                  <a:srgbClr val="333333"/>
                </a:solidFill>
                <a:latin typeface="Calibri"/>
              </a:rPr>
              <a:t>Аналитический раздел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51" name="TextBox 2"/>
          <p:cNvSpPr/>
          <p:nvPr/>
        </p:nvSpPr>
        <p:spPr>
          <a:xfrm>
            <a:off x="731520" y="1280160"/>
            <a:ext cx="10515240" cy="22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1a1a1a"/>
                </a:solidFill>
                <a:latin typeface="Calibri"/>
              </a:rPr>
              <a:t>Сокеты: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 конечная точка взаимодействия в модели TCP/IP, файловый дескриптор в Linux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1a1a1a"/>
                </a:solidFill>
                <a:latin typeface="Calibri"/>
              </a:rPr>
              <a:t>TCP: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 надёжный протокол с установлением соединения (трёхстороннее рукопожатие)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1a1a1a"/>
                </a:solidFill>
                <a:latin typeface="Calibri"/>
              </a:rPr>
              <a:t>HTTP: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 протокол прикладного уровня, модель запрос-ответ (GET, POST, HEAD, ...)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1a1a1a"/>
                </a:solidFill>
                <a:latin typeface="Calibri"/>
              </a:rPr>
              <a:t>Потоки: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 модель 1:1 (NPTL) — каждому пользовательскому потоку соответствует поток ядра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1a1a1a"/>
                </a:solidFill>
                <a:latin typeface="Calibri"/>
              </a:rPr>
              <a:t>Мультиплексирование: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 select/poll — O(n); epoll — O(k), где k — готовые дескрипторы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1a1a1a"/>
                </a:solidFill>
                <a:latin typeface="Calibri"/>
              </a:rPr>
              <a:t>Вывод: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 epoll — предпочтительный механизм для многопоточного сервера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1"/>
          <p:cNvSpPr/>
          <p:nvPr/>
        </p:nvSpPr>
        <p:spPr>
          <a:xfrm>
            <a:off x="548640" y="274320"/>
            <a:ext cx="109724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558"/>
              </a:spcAft>
              <a:buNone/>
            </a:pPr>
            <a:r>
              <a:rPr b="1" lang="en-US" sz="2800" spc="-1" strike="noStrike">
                <a:solidFill>
                  <a:srgbClr val="333333"/>
                </a:solidFill>
                <a:latin typeface="Calibri"/>
              </a:rPr>
              <a:t>Архитектура сервера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53" name="TextBox 2"/>
          <p:cNvSpPr/>
          <p:nvPr/>
        </p:nvSpPr>
        <p:spPr>
          <a:xfrm>
            <a:off x="731520" y="1280160"/>
            <a:ext cx="5303160" cy="184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1" lang="en-US" sz="1700" spc="-1" strike="noStrike">
                <a:solidFill>
                  <a:srgbClr val="1a1a1a"/>
                </a:solidFill>
                <a:latin typeface="Calibri"/>
              </a:rPr>
              <a:t>Главный поток:</a:t>
            </a:r>
            <a:r>
              <a:rPr b="0" lang="en-US" sz="1700" spc="-1" strike="noStrike">
                <a:solidFill>
                  <a:srgbClr val="1a1a1a"/>
                </a:solidFill>
                <a:latin typeface="Calibri"/>
              </a:rPr>
              <a:t> инициализация, создание пулов, ожидание SIGTERM/SIGINT</a:t>
            </a:r>
            <a:endParaRPr b="0" lang="ru-RU" sz="17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1" lang="en-US" sz="1700" spc="-1" strike="noStrike">
                <a:solidFill>
                  <a:srgbClr val="1a1a1a"/>
                </a:solidFill>
                <a:latin typeface="Calibri"/>
              </a:rPr>
              <a:t>Потоки-слушатели (L шт.):</a:t>
            </a:r>
            <a:r>
              <a:rPr b="0" lang="en-US" sz="1700" spc="-1" strike="noStrike">
                <a:solidFill>
                  <a:srgbClr val="1a1a1a"/>
                </a:solidFill>
                <a:latin typeface="Calibri"/>
              </a:rPr>
              <a:t> accept() + epoll, передача задач в очередь</a:t>
            </a:r>
            <a:endParaRPr b="0" lang="ru-RU" sz="17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1" lang="en-US" sz="1700" spc="-1" strike="noStrike">
                <a:solidFill>
                  <a:srgbClr val="1a1a1a"/>
                </a:solidFill>
                <a:latin typeface="Calibri"/>
              </a:rPr>
              <a:t>Потоки-обработчики (W шт.):</a:t>
            </a:r>
            <a:r>
              <a:rPr b="0" lang="en-US" sz="1700" spc="-1" strike="noStrike">
                <a:solidFill>
                  <a:srgbClr val="1a1a1a"/>
                </a:solidFill>
                <a:latin typeface="Calibri"/>
              </a:rPr>
              <a:t> извлечение из очереди, конечный автомат</a:t>
            </a:r>
            <a:endParaRPr b="0" lang="ru-RU" sz="1700" spc="-1" strike="noStrike">
              <a:latin typeface="Arial"/>
            </a:endParaRPr>
          </a:p>
        </p:txBody>
      </p:sp>
      <p:sp>
        <p:nvSpPr>
          <p:cNvPr id="54" name="TextBox 3"/>
          <p:cNvSpPr/>
          <p:nvPr/>
        </p:nvSpPr>
        <p:spPr>
          <a:xfrm>
            <a:off x="731520" y="3931920"/>
            <a:ext cx="53031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40"/>
              </a:spcAft>
              <a:buNone/>
            </a:pPr>
            <a:r>
              <a:rPr b="1" lang="en-US" sz="1700" spc="-1" strike="noStrike">
                <a:solidFill>
                  <a:srgbClr val="1a1a1a"/>
                </a:solidFill>
                <a:latin typeface="Calibri"/>
              </a:rPr>
              <a:t>Конечный автомат:</a:t>
            </a:r>
            <a:endParaRPr b="0" lang="ru-RU" sz="1700" spc="-1" strike="noStrike">
              <a:latin typeface="Arial"/>
            </a:endParaRPr>
          </a:p>
        </p:txBody>
      </p:sp>
      <p:sp>
        <p:nvSpPr>
          <p:cNvPr id="55" name="TextBox 4"/>
          <p:cNvSpPr/>
          <p:nvPr/>
        </p:nvSpPr>
        <p:spPr>
          <a:xfrm>
            <a:off x="731520" y="4480560"/>
            <a:ext cx="53031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2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READING → SENDING_HEADERS → SENDING_BODY → DONE</a:t>
            </a:r>
            <a:endParaRPr b="0" lang="ru-RU" sz="1600" spc="-1" strike="noStrike">
              <a:latin typeface="Arial"/>
            </a:endParaRPr>
          </a:p>
        </p:txBody>
      </p:sp>
      <p:sp>
        <p:nvSpPr>
          <p:cNvPr id="56" name="TextBox 5"/>
          <p:cNvSpPr/>
          <p:nvPr/>
        </p:nvSpPr>
        <p:spPr>
          <a:xfrm>
            <a:off x="6583680" y="1280160"/>
            <a:ext cx="50288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80"/>
              </a:spcAft>
              <a:buNone/>
            </a:pPr>
            <a:r>
              <a:rPr b="1" lang="en-US" sz="1900" spc="-1" strike="noStrike">
                <a:solidFill>
                  <a:srgbClr val="1a1a1a"/>
                </a:solidFill>
                <a:latin typeface="Calibri"/>
              </a:rPr>
              <a:t>Ключевые решения:</a:t>
            </a:r>
            <a:endParaRPr b="0" lang="ru-RU" sz="1900" spc="-1" strike="noStrike">
              <a:latin typeface="Arial"/>
            </a:endParaRPr>
          </a:p>
        </p:txBody>
      </p:sp>
      <p:sp>
        <p:nvSpPr>
          <p:cNvPr id="57" name="TextBox 6"/>
          <p:cNvSpPr/>
          <p:nvPr/>
        </p:nvSpPr>
        <p:spPr>
          <a:xfrm>
            <a:off x="6583680" y="1920240"/>
            <a:ext cx="5028840" cy="185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SO_REUSEPORT — балансировка соединений ядром между слушателями</a:t>
            </a:r>
            <a:endParaRPr b="0" lang="ru-RU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EPOLLONESHOT + EPOLLET — исключение гонок между потоками</a:t>
            </a:r>
            <a:endParaRPr b="0" lang="ru-RU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sendfile() — zero-copy передача файлов из ядра</a:t>
            </a:r>
            <a:endParaRPr b="0" lang="ru-RU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eventfd — механизм корректного завершения потоков</a:t>
            </a:r>
            <a:endParaRPr b="0" lang="ru-RU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1"/>
          <p:cNvSpPr/>
          <p:nvPr/>
        </p:nvSpPr>
        <p:spPr>
          <a:xfrm>
            <a:off x="548640" y="274320"/>
            <a:ext cx="109724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558"/>
              </a:spcAft>
              <a:buNone/>
            </a:pPr>
            <a:r>
              <a:rPr b="1" lang="en-US" sz="2800" spc="-1" strike="noStrike">
                <a:solidFill>
                  <a:srgbClr val="333333"/>
                </a:solidFill>
                <a:latin typeface="Calibri"/>
              </a:rPr>
              <a:t>Средства реализации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59" name="TextBox 2"/>
          <p:cNvSpPr/>
          <p:nvPr/>
        </p:nvSpPr>
        <p:spPr>
          <a:xfrm>
            <a:off x="731520" y="1280160"/>
            <a:ext cx="10515240" cy="23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1" lang="en-US" sz="1900" spc="-1" strike="noStrike">
                <a:solidFill>
                  <a:srgbClr val="1a1a1a"/>
                </a:solidFill>
                <a:latin typeface="Calibri"/>
              </a:rPr>
              <a:t>Язык:</a:t>
            </a:r>
            <a:r>
              <a:rPr b="0" lang="en-US" sz="1900" spc="-1" strike="noStrike">
                <a:solidFill>
                  <a:srgbClr val="1a1a1a"/>
                </a:solidFill>
                <a:latin typeface="Calibri"/>
              </a:rPr>
              <a:t> C (стандарт C17)</a:t>
            </a:r>
            <a:endParaRPr b="0" lang="ru-RU" sz="19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1" lang="en-US" sz="1900" spc="-1" strike="noStrike">
                <a:solidFill>
                  <a:srgbClr val="1a1a1a"/>
                </a:solidFill>
                <a:latin typeface="Calibri"/>
              </a:rPr>
              <a:t>Компилятор:</a:t>
            </a:r>
            <a:r>
              <a:rPr b="0" lang="en-US" sz="1900" spc="-1" strike="noStrike">
                <a:solidFill>
                  <a:srgbClr val="1a1a1a"/>
                </a:solidFill>
                <a:latin typeface="Calibri"/>
              </a:rPr>
              <a:t> GCC, флаги -Wall -Wextra -Wpedantic -std=c17</a:t>
            </a:r>
            <a:endParaRPr b="0" lang="ru-RU" sz="19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1" lang="en-US" sz="1900" spc="-1" strike="noStrike">
                <a:solidFill>
                  <a:srgbClr val="1a1a1a"/>
                </a:solidFill>
                <a:latin typeface="Calibri"/>
              </a:rPr>
              <a:t>Системные вызовы:</a:t>
            </a:r>
            <a:r>
              <a:rPr b="0" lang="en-US" sz="1900" spc="-1" strike="noStrike">
                <a:solidFill>
                  <a:srgbClr val="1a1a1a"/>
                </a:solidFill>
                <a:latin typeface="Calibri"/>
              </a:rPr>
              <a:t> epoll_create1, epoll_ctl, epoll_wait, accept, recv, send, sendfile</a:t>
            </a:r>
            <a:endParaRPr b="0" lang="ru-RU" sz="19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1" lang="en-US" sz="1900" spc="-1" strike="noStrike">
                <a:solidFill>
                  <a:srgbClr val="1a1a1a"/>
                </a:solidFill>
                <a:latin typeface="Calibri"/>
              </a:rPr>
              <a:t>Потоки:</a:t>
            </a:r>
            <a:r>
              <a:rPr b="0" lang="en-US" sz="1900" spc="-1" strike="noStrike">
                <a:solidFill>
                  <a:srgbClr val="1a1a1a"/>
                </a:solidFill>
                <a:latin typeface="Calibri"/>
              </a:rPr>
              <a:t> POSIX Threads (pthread_create, pthread_join)</a:t>
            </a:r>
            <a:endParaRPr b="0" lang="ru-RU" sz="19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1" lang="en-US" sz="1900" spc="-1" strike="noStrike">
                <a:solidFill>
                  <a:srgbClr val="1a1a1a"/>
                </a:solidFill>
                <a:latin typeface="Calibri"/>
              </a:rPr>
              <a:t>Сборка:</a:t>
            </a:r>
            <a:r>
              <a:rPr b="0" lang="en-US" sz="1900" spc="-1" strike="noStrike">
                <a:solidFill>
                  <a:srgbClr val="1a1a1a"/>
                </a:solidFill>
                <a:latin typeface="Calibri"/>
              </a:rPr>
              <a:t> GNU Make</a:t>
            </a:r>
            <a:endParaRPr b="0" lang="ru-RU" sz="19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1" lang="en-US" sz="1900" spc="-1" strike="noStrike">
                <a:solidFill>
                  <a:srgbClr val="1a1a1a"/>
                </a:solidFill>
                <a:latin typeface="Calibri"/>
              </a:rPr>
              <a:t>Платформа:</a:t>
            </a:r>
            <a:r>
              <a:rPr b="0" lang="en-US" sz="1900" spc="-1" strike="noStrike">
                <a:solidFill>
                  <a:srgbClr val="1a1a1a"/>
                </a:solidFill>
                <a:latin typeface="Calibri"/>
              </a:rPr>
              <a:t> Linux 6.8, Intel Core i9-11900KF (8 ядер / 16 потоков)</a:t>
            </a:r>
            <a:endParaRPr b="0" lang="ru-RU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1"/>
          <p:cNvSpPr/>
          <p:nvPr/>
        </p:nvSpPr>
        <p:spPr>
          <a:xfrm>
            <a:off x="548640" y="274320"/>
            <a:ext cx="109724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558"/>
              </a:spcAft>
              <a:buNone/>
            </a:pPr>
            <a:r>
              <a:rPr b="1" lang="en-US" sz="2800" spc="-1" strike="noStrike">
                <a:solidFill>
                  <a:srgbClr val="333333"/>
                </a:solidFill>
                <a:latin typeface="Calibri"/>
              </a:rPr>
              <a:t>Методика нагрузочного тестирования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61" name="TextBox 2"/>
          <p:cNvSpPr/>
          <p:nvPr/>
        </p:nvSpPr>
        <p:spPr>
          <a:xfrm>
            <a:off x="731520" y="1280160"/>
            <a:ext cx="5028840" cy="14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1a1a1a"/>
                </a:solidFill>
                <a:latin typeface="Calibri"/>
              </a:rPr>
              <a:t>Инструмент: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 wrk (8 потоков)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1a1a1a"/>
                </a:solidFill>
                <a:latin typeface="Calibri"/>
              </a:rPr>
              <a:t>Длительность прогона: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 3 с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1a1a1a"/>
                </a:solidFill>
                <a:latin typeface="Calibri"/>
              </a:rPr>
              <a:t>Прогонов на комбинацию: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 10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1a1a1a"/>
                </a:solidFill>
                <a:latin typeface="Calibri"/>
              </a:rPr>
              <a:t>Ресурс: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 статическая HTML-страница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62" name="TextBox 3"/>
          <p:cNvSpPr/>
          <p:nvPr/>
        </p:nvSpPr>
        <p:spPr>
          <a:xfrm>
            <a:off x="731520" y="3474720"/>
            <a:ext cx="502884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40"/>
              </a:spcAft>
              <a:buNone/>
            </a:pPr>
            <a:r>
              <a:rPr b="0" lang="en-US" sz="1700" spc="-1" strike="noStrike">
                <a:solidFill>
                  <a:srgbClr val="1a1a1a"/>
                </a:solidFill>
                <a:latin typeface="Calibri"/>
              </a:rPr>
              <a:t>Уровни нагрузки: 10K, 20K, 40K, 80K, 100K подключений</a:t>
            </a:r>
            <a:endParaRPr b="0" lang="ru-RU" sz="1700" spc="-1" strike="noStrike">
              <a:latin typeface="Arial"/>
            </a:endParaRPr>
          </a:p>
        </p:txBody>
      </p:sp>
      <p:sp>
        <p:nvSpPr>
          <p:cNvPr id="63" name="TextBox 4"/>
          <p:cNvSpPr/>
          <p:nvPr/>
        </p:nvSpPr>
        <p:spPr>
          <a:xfrm>
            <a:off x="6400800" y="1280160"/>
            <a:ext cx="50288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80"/>
              </a:spcAft>
              <a:buNone/>
            </a:pPr>
            <a:r>
              <a:rPr b="1" lang="en-US" sz="1900" spc="-1" strike="noStrike">
                <a:solidFill>
                  <a:srgbClr val="1a1a1a"/>
                </a:solidFill>
                <a:latin typeface="Calibri"/>
              </a:rPr>
              <a:t>Конфигурации сервера:</a:t>
            </a:r>
            <a:endParaRPr b="0" lang="ru-RU" sz="1900" spc="-1" strike="noStrike">
              <a:latin typeface="Arial"/>
            </a:endParaRPr>
          </a:p>
        </p:txBody>
      </p:sp>
      <p:graphicFrame>
        <p:nvGraphicFramePr>
          <p:cNvPr id="64" name="Table 5"/>
          <p:cNvGraphicFramePr/>
          <p:nvPr/>
        </p:nvGraphicFramePr>
        <p:xfrm>
          <a:off x="6400800" y="2011680"/>
          <a:ext cx="5028840" cy="1371240"/>
        </p:xfrm>
        <a:graphic>
          <a:graphicData uri="http://schemas.openxmlformats.org/drawingml/2006/table">
            <a:tbl>
              <a:tblPr/>
              <a:tblGrid>
                <a:gridCol w="718200"/>
                <a:gridCol w="718200"/>
                <a:gridCol w="718200"/>
                <a:gridCol w="718200"/>
                <a:gridCol w="718200"/>
                <a:gridCol w="718200"/>
                <a:gridCol w="71964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5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Конф.</a:t>
                      </a:r>
                      <a:endParaRPr b="0" lang="ru-RU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5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  <a:endParaRPr b="0" lang="ru-RU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5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  <a:endParaRPr b="0" lang="ru-RU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5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  <a:endParaRPr b="0" lang="ru-RU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5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  <a:endParaRPr b="0" lang="ru-RU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5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  <a:endParaRPr b="0" lang="ru-RU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5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  <a:endParaRPr b="0" lang="ru-RU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0e0e0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5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L</a:t>
                      </a:r>
                      <a:endParaRPr b="0" lang="ru-RU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5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  <a:endParaRPr b="0" lang="ru-RU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5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  <a:endParaRPr b="0" lang="ru-RU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5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  <a:endParaRPr b="0" lang="ru-RU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5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  <a:endParaRPr b="0" lang="ru-RU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5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  <a:endParaRPr b="0" lang="ru-RU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5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  <a:endParaRPr b="0" lang="ru-RU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5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W</a:t>
                      </a:r>
                      <a:endParaRPr b="0" lang="ru-RU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5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  <a:endParaRPr b="0" lang="ru-RU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5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  <a:endParaRPr b="0" lang="ru-RU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5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  <a:endParaRPr b="0" lang="ru-RU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5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  <a:endParaRPr b="0" lang="ru-RU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5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  <a:endParaRPr b="0" lang="ru-RU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5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  <a:endParaRPr b="0" lang="ru-RU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" name="TextBox 6"/>
          <p:cNvSpPr/>
          <p:nvPr/>
        </p:nvSpPr>
        <p:spPr>
          <a:xfrm>
            <a:off x="6400800" y="3840480"/>
            <a:ext cx="502884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40"/>
              </a:spcAft>
              <a:buNone/>
            </a:pPr>
            <a:r>
              <a:rPr b="0" lang="en-US" sz="1700" spc="-1" strike="noStrike">
                <a:solidFill>
                  <a:srgbClr val="1a1a1a"/>
                </a:solidFill>
                <a:latin typeface="Calibri"/>
              </a:rPr>
              <a:t>Метрики: пропускная способность (req/s), средняя задержка (мс), скорость передачи (МБ/с)</a:t>
            </a:r>
            <a:endParaRPr b="0" lang="ru-RU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548640" y="274320"/>
            <a:ext cx="109724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558"/>
              </a:spcAft>
              <a:buNone/>
            </a:pPr>
            <a:r>
              <a:rPr b="1" lang="en-US" sz="2800" spc="-1" strike="noStrike">
                <a:solidFill>
                  <a:srgbClr val="333333"/>
                </a:solidFill>
                <a:latin typeface="Calibri"/>
              </a:rPr>
              <a:t>Результаты: тепловая карта (L=2, W=8)</a:t>
            </a:r>
            <a:endParaRPr b="0" lang="ru-RU" sz="2800" spc="-1" strike="noStrike">
              <a:latin typeface="Arial"/>
            </a:endParaRPr>
          </a:p>
        </p:txBody>
      </p:sp>
      <p:pic>
        <p:nvPicPr>
          <p:cNvPr id="67" name="Picture 2" descr="cfg_2_8_heatmap_3d.png"/>
          <p:cNvPicPr/>
          <p:nvPr/>
        </p:nvPicPr>
        <p:blipFill>
          <a:blip r:embed="rId1"/>
          <a:stretch/>
        </p:blipFill>
        <p:spPr>
          <a:xfrm>
            <a:off x="274320" y="1097280"/>
            <a:ext cx="6352560" cy="5303160"/>
          </a:xfrm>
          <a:prstGeom prst="rect">
            <a:avLst/>
          </a:prstGeom>
          <a:ln w="0">
            <a:noFill/>
          </a:ln>
        </p:spPr>
      </p:pic>
      <p:sp>
        <p:nvSpPr>
          <p:cNvPr id="68" name="TextBox 3"/>
          <p:cNvSpPr/>
          <p:nvPr/>
        </p:nvSpPr>
        <p:spPr>
          <a:xfrm>
            <a:off x="6583680" y="1280160"/>
            <a:ext cx="5028840" cy="277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1" lang="en-US" sz="1700" spc="-1" strike="noStrike">
                <a:solidFill>
                  <a:srgbClr val="1a1a1a"/>
                </a:solidFill>
                <a:latin typeface="Calibri"/>
              </a:rPr>
              <a:t>10K подкл.:</a:t>
            </a:r>
            <a:r>
              <a:rPr b="0" lang="en-US" sz="1700" spc="-1" strike="noStrike">
                <a:solidFill>
                  <a:srgbClr val="1a1a1a"/>
                </a:solidFill>
                <a:latin typeface="Calibri"/>
              </a:rPr>
              <a:t> 168 414 req/s, 57 мс</a:t>
            </a:r>
            <a:endParaRPr b="0" lang="ru-RU" sz="17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1" lang="en-US" sz="1700" spc="-1" strike="noStrike">
                <a:solidFill>
                  <a:srgbClr val="1a1a1a"/>
                </a:solidFill>
                <a:latin typeface="Calibri"/>
              </a:rPr>
              <a:t>20K подкл.:</a:t>
            </a:r>
            <a:r>
              <a:rPr b="0" lang="en-US" sz="1700" spc="-1" strike="noStrike">
                <a:solidFill>
                  <a:srgbClr val="1a1a1a"/>
                </a:solidFill>
                <a:latin typeface="Calibri"/>
              </a:rPr>
              <a:t> 71 480 req/s, 69 мс</a:t>
            </a:r>
            <a:endParaRPr b="0" lang="ru-RU" sz="17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endParaRPr b="0" lang="ru-RU" sz="17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1" lang="en-US" sz="1700" spc="-1" strike="noStrike">
                <a:solidFill>
                  <a:srgbClr val="1a1a1a"/>
                </a:solidFill>
                <a:latin typeface="Calibri"/>
              </a:rPr>
              <a:t>Точка деградации:</a:t>
            </a:r>
            <a:r>
              <a:rPr b="0" lang="en-US" sz="1700" spc="-1" strike="noStrike">
                <a:solidFill>
                  <a:srgbClr val="1a1a1a"/>
                </a:solidFill>
                <a:latin typeface="Calibri"/>
              </a:rPr>
              <a:t> ~25 000 подключений</a:t>
            </a:r>
            <a:endParaRPr b="0" lang="ru-RU" sz="17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0" lang="en-US" sz="1700" spc="-1" strike="noStrike">
                <a:solidFill>
                  <a:srgbClr val="1a1a1a"/>
                </a:solidFill>
                <a:latin typeface="Calibri"/>
              </a:rPr>
              <a:t>RPS падает в 19 раз (71K → 3.7K)</a:t>
            </a:r>
            <a:endParaRPr b="0" lang="ru-RU" sz="17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endParaRPr b="0" lang="ru-RU" sz="17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1" lang="en-US" sz="1700" spc="-1" strike="noStrike">
                <a:solidFill>
                  <a:srgbClr val="1a1a1a"/>
                </a:solidFill>
                <a:latin typeface="Calibri"/>
              </a:rPr>
              <a:t>Причина:</a:t>
            </a:r>
            <a:r>
              <a:rPr b="0" lang="en-US" sz="1700" spc="-1" strike="noStrike">
                <a:solidFill>
                  <a:srgbClr val="1a1a1a"/>
                </a:solidFill>
                <a:latin typeface="Calibri"/>
              </a:rPr>
              <a:t> исчерпание ресурсов ядра ОС на обслуживание файловых дескрипторов</a:t>
            </a:r>
            <a:endParaRPr b="0" lang="ru-RU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548640" y="274320"/>
            <a:ext cx="109724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558"/>
              </a:spcAft>
              <a:buNone/>
            </a:pPr>
            <a:r>
              <a:rPr b="1" lang="en-US" sz="2800" spc="-1" strike="noStrike">
                <a:solidFill>
                  <a:srgbClr val="333333"/>
                </a:solidFill>
                <a:latin typeface="Calibri"/>
              </a:rPr>
              <a:t>Выводы исследования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731520" y="1280160"/>
            <a:ext cx="10515240" cy="22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0" lang="en-US" sz="2000" spc="-1" strike="noStrike">
                <a:solidFill>
                  <a:srgbClr val="1a1a1a"/>
                </a:solidFill>
                <a:latin typeface="Calibri"/>
              </a:rPr>
              <a:t>1. Увеличение обработчиков (W: 2→8) повышает RPS на 77% и снижает задержку на 43%</a:t>
            </a:r>
            <a:endParaRPr b="0" lang="ru-RU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0" lang="en-US" sz="2000" spc="-1" strike="noStrike">
                <a:solidFill>
                  <a:srgbClr val="1a1a1a"/>
                </a:solidFill>
                <a:latin typeface="Calibri"/>
              </a:rPr>
              <a:t>2. Увеличение слушателей свыше 2 ухудшает производительность в 2–3 раза (конкуренция за SO_REUSEPORT)</a:t>
            </a:r>
            <a:endParaRPr b="0" lang="ru-RU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0" lang="en-US" sz="2000" spc="-1" strike="noStrike">
                <a:solidFill>
                  <a:srgbClr val="1a1a1a"/>
                </a:solidFill>
                <a:latin typeface="Calibri"/>
              </a:rPr>
              <a:t>3. При нагрузке &gt;40 000 подключений узкое место — ограничения ОС, а не архитектура потоков</a:t>
            </a:r>
            <a:endParaRPr b="0" lang="ru-RU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0" lang="en-US" sz="2000" spc="-1" strike="noStrike">
                <a:solidFill>
                  <a:srgbClr val="1a1a1a"/>
                </a:solidFill>
                <a:latin typeface="Calibri"/>
              </a:rPr>
              <a:t>4. Оптимальная конфигурация: L=2, W=8 — максимальный RPS и минимальная задержка</a:t>
            </a:r>
            <a:endParaRPr b="0" lang="ru-RU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548640" y="274320"/>
            <a:ext cx="109724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558"/>
              </a:spcAft>
              <a:buNone/>
            </a:pPr>
            <a:r>
              <a:rPr b="1" lang="en-US" sz="2800" spc="-1" strike="noStrike">
                <a:solidFill>
                  <a:srgbClr val="333333"/>
                </a:solidFill>
                <a:latin typeface="Calibri"/>
              </a:rPr>
              <a:t>Результаты работы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731520" y="1280160"/>
            <a:ext cx="10515240" cy="23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0" lang="en-US" sz="2000" spc="-1" strike="noStrike">
                <a:solidFill>
                  <a:srgbClr val="1a1a1a"/>
                </a:solidFill>
                <a:latin typeface="Calibri"/>
              </a:rPr>
              <a:t>1. Проанализированы архитектура компьютерной сети, протоколы TCP/HTTP и системные вызовы Linux</a:t>
            </a:r>
            <a:endParaRPr b="0" lang="ru-RU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0" lang="en-US" sz="2000" spc="-1" strike="noStrike">
                <a:solidFill>
                  <a:srgbClr val="1a1a1a"/>
                </a:solidFill>
                <a:latin typeface="Calibri"/>
              </a:rPr>
              <a:t>2. Спроектированы алгоритмы главного потока, потоков-слушателей и потоков-обработчиков</a:t>
            </a:r>
            <a:endParaRPr b="0" lang="ru-RU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0" lang="en-US" sz="2000" spc="-1" strike="noStrike">
                <a:solidFill>
                  <a:srgbClr val="1a1a1a"/>
                </a:solidFill>
                <a:latin typeface="Calibri"/>
              </a:rPr>
              <a:t>3. Реализован многопоточный HTTP-сервер на языке C (epoll + sendfile + POSIX Threads)</a:t>
            </a:r>
            <a:endParaRPr b="0" lang="ru-RU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0" lang="en-US" sz="2000" spc="-1" strike="noStrike">
                <a:solidFill>
                  <a:srgbClr val="1a1a1a"/>
                </a:solidFill>
                <a:latin typeface="Calibri"/>
              </a:rPr>
              <a:t>4. Проведено нагрузочное тестирование: 6 конфигураций, 5 уровней нагрузки, 10 прогонов</a:t>
            </a:r>
            <a:endParaRPr b="0" lang="ru-RU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  <a:buNone/>
            </a:pPr>
            <a:r>
              <a:rPr b="0" lang="en-US" sz="2000" spc="-1" strike="noStrike">
                <a:solidFill>
                  <a:srgbClr val="1a1a1a"/>
                </a:solidFill>
                <a:latin typeface="Calibri"/>
              </a:rPr>
              <a:t>5. Определена оптимальная конфигурация: 2 слушателя, 8 обработчиков</a:t>
            </a:r>
            <a:endParaRPr b="0" lang="ru-RU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2026-02-05T13:35:39Z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